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Unbounded" panose="020B0604020202020204" charset="0"/>
      <p:regular r:id="rId13"/>
    </p:embeddedFont>
    <p:embeddedFont>
      <p:font typeface="Unbounded Light" panose="020B0604020202020204" charset="0"/>
      <p:regular r:id="rId14"/>
    </p:embeddedFont>
    <p:embeddedFont>
      <p:font typeface="Ysabeau Office"/>
      <p:regular r:id="rId15"/>
    </p:embeddedFont>
    <p:embeddedFont>
      <p:font typeface="Ysabeau Office Medium"/>
      <p:regular r:id="rId16"/>
    </p:embeddedFont>
    <p:embeddedFont>
      <p:font typeface="Ysabeau Office Semi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966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ShelfSense as the intended platform design. The interface is illustrative; the deck does not claim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8655"/>
            <a:ext cx="543546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PRODUCT DESIGN · SHELFSENSE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88675"/>
            <a:ext cx="5054474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ShelfSense: Smart Inventory &amp; Expiry Management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0383" y="3129260"/>
            <a:ext cx="505447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Smarter Inventory. Less Waste. Better Business Decisions.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60383" y="4672061"/>
            <a:ext cx="3211822" cy="122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V Rohith (23501A05I9)   </a:t>
            </a:r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 Somesh (23501A05E1)  </a:t>
            </a:r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O Venkat Sai (23501A05D3)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36" y="1884859"/>
            <a:ext cx="4952876" cy="27860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53036" y="4756487"/>
            <a:ext cx="563865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B5D0C9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Illustrative interface concept, not an implementation screenshot.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Disconnected stock tracking creates costly blind spots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856607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489490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Manual records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3929122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Separate records make current stock difficult to establish.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489" y="2856607"/>
            <a:ext cx="507987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19489" y="3489490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Unexpected shortages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419489" y="3929122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Missing visibility leaves replenishment needs easy to overlook.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394" y="2856607"/>
            <a:ext cx="507987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394" y="3489490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Expired products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229394" y="3929122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Expiry risk can remain hidden until stock can no longer be sold.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09585" y="569505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3B88C"/>
          </a:solidFill>
          <a:ln/>
        </p:spPr>
      </p:sp>
      <p:sp>
        <p:nvSpPr>
          <p:cNvPr id="14" name="Text 9"/>
          <p:cNvSpPr/>
          <p:nvPr/>
        </p:nvSpPr>
        <p:spPr>
          <a:xfrm>
            <a:off x="609585" y="5956360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Supplier coordination and business insights are difficult without a shared view.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EXPECTED 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Visibility makes everyday inventory decisions easier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25896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Disconnected processes make it harder to spot expiry risk, replenish stock and understand business activity.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3541183"/>
            <a:ext cx="3428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What needs attention?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980815"/>
            <a:ext cx="34289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Batch and expiry records help identify stock approaching expiry.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95688" y="3541183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What should we buy?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95688" y="3980815"/>
            <a:ext cx="320032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Stock visibility supports more informed replenishment decisions.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53196" y="3541183"/>
            <a:ext cx="3428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What is happening?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53196" y="3980815"/>
            <a:ext cx="34289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Connected sales and purchase records make activity easier to review.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85" y="5883275"/>
            <a:ext cx="1158211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kern="100" spc="8" dirty="0">
                <a:solidFill>
                  <a:srgbClr val="85CBB5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Connect operational records to clearer decisions.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60743" y="2395736"/>
            <a:ext cx="12700" cy="3306564"/>
          </a:xfrm>
          <a:prstGeom prst="rect">
            <a:avLst/>
          </a:prstGeom>
          <a:solidFill>
            <a:srgbClr val="398E78"/>
          </a:solidFill>
          <a:ln/>
        </p:spPr>
      </p:sp>
      <p:sp>
        <p:nvSpPr>
          <p:cNvPr id="13" name="Shape 11"/>
          <p:cNvSpPr/>
          <p:nvPr/>
        </p:nvSpPr>
        <p:spPr>
          <a:xfrm>
            <a:off x="7918252" y="2395736"/>
            <a:ext cx="12700" cy="3306564"/>
          </a:xfrm>
          <a:prstGeom prst="rect">
            <a:avLst/>
          </a:prstGeom>
          <a:solidFill>
            <a:srgbClr val="398E7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PLATFORM OVERVIEW · INTENDED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ShelfSense brings inventory workflows together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215" y="1492845"/>
            <a:ext cx="7815265" cy="4190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82082" y="1865621"/>
            <a:ext cx="3611901" cy="20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ShelfSense Hub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586196" y="4313451"/>
            <a:ext cx="1759710" cy="40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E8F2F0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Products, Batches &amp; Expiry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6765" y="3290374"/>
            <a:ext cx="390757" cy="390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9900" y="4571357"/>
            <a:ext cx="1759710" cy="40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E8F2F0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Sales, Purchases &amp; Suppliers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469" y="3556095"/>
            <a:ext cx="390757" cy="3907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53604" y="4297820"/>
            <a:ext cx="1759711" cy="40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E8F2F0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Analytics &amp; Reports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173" y="3259113"/>
            <a:ext cx="390758" cy="390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DESIGN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Six objectives guide the platform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11856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9170" y="1522479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Centralize operations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219170" y="1962110"/>
            <a:ext cx="487667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Bring core records into one workspace.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1511856"/>
            <a:ext cx="406390" cy="406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34027" y="1522479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Improve stock visibility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934027" y="1962110"/>
            <a:ext cx="464808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Make inventory status easier to understand.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3319225"/>
            <a:ext cx="406390" cy="406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19170" y="3329847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Minimize expiry-related waste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219170" y="3769479"/>
            <a:ext cx="487667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Surface batches that need attention.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3319225"/>
            <a:ext cx="406390" cy="406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34027" y="3329847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Automate stock updates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934027" y="3769479"/>
            <a:ext cx="464808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Connect movements to purchases and sales.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4898092"/>
            <a:ext cx="406390" cy="4064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19170" y="4908715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Improve purchasing decisions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1219170" y="5348347"/>
            <a:ext cx="487667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Use stock context when replenishing.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2" y="4898092"/>
            <a:ext cx="406390" cy="406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34027" y="4908715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Improve business reporting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6934027" y="5348347"/>
            <a:ext cx="464808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Review connected operational activity.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6089498" y="1511895"/>
            <a:ext cx="12700" cy="1578769"/>
          </a:xfrm>
          <a:prstGeom prst="rect">
            <a:avLst/>
          </a:prstGeom>
          <a:solidFill>
            <a:srgbClr val="398E78"/>
          </a:solidFill>
          <a:ln/>
        </p:spPr>
      </p:sp>
      <p:sp>
        <p:nvSpPr>
          <p:cNvPr id="23" name="Shape 15"/>
          <p:cNvSpPr/>
          <p:nvPr/>
        </p:nvSpPr>
        <p:spPr>
          <a:xfrm>
            <a:off x="609585" y="3084314"/>
            <a:ext cx="5486263" cy="12700"/>
          </a:xfrm>
          <a:prstGeom prst="rect">
            <a:avLst/>
          </a:prstGeom>
          <a:solidFill>
            <a:srgbClr val="398E78"/>
          </a:solidFill>
          <a:ln/>
        </p:spPr>
      </p:sp>
      <p:sp>
        <p:nvSpPr>
          <p:cNvPr id="24" name="Shape 16"/>
          <p:cNvSpPr/>
          <p:nvPr/>
        </p:nvSpPr>
        <p:spPr>
          <a:xfrm>
            <a:off x="6089498" y="3090664"/>
            <a:ext cx="12700" cy="1578868"/>
          </a:xfrm>
          <a:prstGeom prst="rect">
            <a:avLst/>
          </a:prstGeom>
          <a:solidFill>
            <a:srgbClr val="398E78"/>
          </a:solidFill>
          <a:ln/>
        </p:spPr>
      </p:sp>
      <p:sp>
        <p:nvSpPr>
          <p:cNvPr id="25" name="Shape 17"/>
          <p:cNvSpPr/>
          <p:nvPr/>
        </p:nvSpPr>
        <p:spPr>
          <a:xfrm>
            <a:off x="6095848" y="3084314"/>
            <a:ext cx="5486263" cy="12700"/>
          </a:xfrm>
          <a:prstGeom prst="rect">
            <a:avLst/>
          </a:prstGeom>
          <a:solidFill>
            <a:srgbClr val="398E78"/>
          </a:solidFill>
          <a:ln/>
        </p:spPr>
      </p:sp>
      <p:sp>
        <p:nvSpPr>
          <p:cNvPr id="26" name="Shape 18"/>
          <p:cNvSpPr/>
          <p:nvPr/>
        </p:nvSpPr>
        <p:spPr>
          <a:xfrm>
            <a:off x="609585" y="4663182"/>
            <a:ext cx="5486263" cy="12700"/>
          </a:xfrm>
          <a:prstGeom prst="rect">
            <a:avLst/>
          </a:prstGeom>
          <a:solidFill>
            <a:srgbClr val="398E78"/>
          </a:solidFill>
          <a:ln/>
        </p:spPr>
      </p:sp>
      <p:sp>
        <p:nvSpPr>
          <p:cNvPr id="27" name="Shape 19"/>
          <p:cNvSpPr/>
          <p:nvPr/>
        </p:nvSpPr>
        <p:spPr>
          <a:xfrm>
            <a:off x="6089498" y="4669532"/>
            <a:ext cx="12700" cy="1578868"/>
          </a:xfrm>
          <a:prstGeom prst="rect">
            <a:avLst/>
          </a:prstGeom>
          <a:solidFill>
            <a:srgbClr val="398E78"/>
          </a:solidFill>
          <a:ln/>
        </p:spPr>
      </p:sp>
      <p:sp>
        <p:nvSpPr>
          <p:cNvPr id="28" name="Shape 20"/>
          <p:cNvSpPr/>
          <p:nvPr/>
        </p:nvSpPr>
        <p:spPr>
          <a:xfrm>
            <a:off x="6095848" y="4663182"/>
            <a:ext cx="5486263" cy="12700"/>
          </a:xfrm>
          <a:prstGeom prst="rect">
            <a:avLst/>
          </a:prstGeom>
          <a:solidFill>
            <a:srgbClr val="398E7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TECHNOLOGY · INTENDED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A TypeScript-based MERN stack powers ShelfSense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25896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MERN combines MongoDB, Express.js, React and Node.js.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395736"/>
            <a:ext cx="3454314" cy="3435548"/>
          </a:xfrm>
          <a:prstGeom prst="rect">
            <a:avLst/>
          </a:prstGeom>
          <a:solidFill>
            <a:srgbClr val="123044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971469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411101"/>
            <a:ext cx="299712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React, TypeScript, Vite, Tailwind CSS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179" y="4118213"/>
            <a:ext cx="322571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Interface and styling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1" y="2395736"/>
            <a:ext cx="3454314" cy="3435548"/>
          </a:xfrm>
          <a:prstGeom prst="rect">
            <a:avLst/>
          </a:prstGeom>
          <a:solidFill>
            <a:srgbClr val="123044"/>
          </a:solidFill>
          <a:ln/>
        </p:spPr>
      </p:sp>
      <p:sp>
        <p:nvSpPr>
          <p:cNvPr id="10" name="Text 8"/>
          <p:cNvSpPr/>
          <p:nvPr/>
        </p:nvSpPr>
        <p:spPr>
          <a:xfrm>
            <a:off x="4597285" y="2971469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Backend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7285" y="3411101"/>
            <a:ext cx="32257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Node.js, Express.js, TypeScript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7285" y="3823633"/>
            <a:ext cx="322571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API and business logic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7797" y="2395736"/>
            <a:ext cx="3454314" cy="3435548"/>
          </a:xfrm>
          <a:prstGeom prst="rect">
            <a:avLst/>
          </a:prstGeom>
          <a:solidFill>
            <a:srgbClr val="123044"/>
          </a:solidFill>
          <a:ln/>
        </p:spPr>
      </p:sp>
      <p:sp>
        <p:nvSpPr>
          <p:cNvPr id="14" name="Text 12"/>
          <p:cNvSpPr/>
          <p:nvPr/>
        </p:nvSpPr>
        <p:spPr>
          <a:xfrm>
            <a:off x="8356391" y="2971469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Database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56391" y="3411101"/>
            <a:ext cx="32257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MongoDB and Mongoose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56391" y="3823633"/>
            <a:ext cx="322571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Data storage and 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585" y="6011148"/>
            <a:ext cx="1158211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JWT for authentication · Zod for validation · TanStack Query for server data · Zustand for application state · Recharts for charts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REQUEST ARCHITECTURE · INTENDED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Requests flow from the interface to the database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04305"/>
            <a:ext cx="10794730" cy="41605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6150412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B5D0C9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REST API means the HTTP interface between the frontend and backend services.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FUNCTIONAL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Nine modules cover the business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511895"/>
            <a:ext cx="3581310" cy="1477169"/>
          </a:xfrm>
          <a:prstGeom prst="rect">
            <a:avLst/>
          </a:prstGeom>
          <a:solidFill>
            <a:srgbClr val="12304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740503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7764" y="1755735"/>
            <a:ext cx="251453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Authentication and users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47764" y="2133342"/>
            <a:ext cx="2743131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Access and user records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291" y="1511895"/>
            <a:ext cx="3505112" cy="1477169"/>
          </a:xfrm>
          <a:prstGeom prst="rect">
            <a:avLst/>
          </a:prstGeom>
          <a:solidFill>
            <a:srgbClr val="12304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86" y="1740503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1470" y="1755735"/>
            <a:ext cx="243833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Products and categories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181470" y="2133342"/>
            <a:ext cx="266693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Catalog organization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00800" y="1511895"/>
            <a:ext cx="3581310" cy="1477169"/>
          </a:xfrm>
          <a:prstGeom prst="rect">
            <a:avLst/>
          </a:prstGeom>
          <a:solidFill>
            <a:srgbClr val="12304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394" y="1740503"/>
            <a:ext cx="40639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38979" y="1755735"/>
            <a:ext cx="251453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Inventory and movements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838979" y="2133342"/>
            <a:ext cx="2743131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Stock and its changes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09585" y="3141365"/>
            <a:ext cx="3581310" cy="1477466"/>
          </a:xfrm>
          <a:prstGeom prst="rect">
            <a:avLst/>
          </a:prstGeom>
          <a:solidFill>
            <a:srgbClr val="12304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79" y="3369973"/>
            <a:ext cx="40639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47764" y="3385205"/>
            <a:ext cx="251453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Batches and expiry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47764" y="3762812"/>
            <a:ext cx="2743131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Expiry-aware stock records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43291" y="3141365"/>
            <a:ext cx="3505112" cy="1477466"/>
          </a:xfrm>
          <a:prstGeom prst="rect">
            <a:avLst/>
          </a:prstGeom>
          <a:solidFill>
            <a:srgbClr val="12304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886" y="3369973"/>
            <a:ext cx="406390" cy="406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81470" y="3385205"/>
            <a:ext cx="243833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Suppliers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81470" y="3762812"/>
            <a:ext cx="266693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Supplier information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000800" y="3141365"/>
            <a:ext cx="3581310" cy="1477466"/>
          </a:xfrm>
          <a:prstGeom prst="rect">
            <a:avLst/>
          </a:prstGeom>
          <a:solidFill>
            <a:srgbClr val="123044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394" y="3369973"/>
            <a:ext cx="406390" cy="406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38979" y="3385205"/>
            <a:ext cx="251453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Purchases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838979" y="3762812"/>
            <a:ext cx="2743131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Incoming stock workflow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09585" y="4771132"/>
            <a:ext cx="3581310" cy="1477268"/>
          </a:xfrm>
          <a:prstGeom prst="rect">
            <a:avLst/>
          </a:prstGeom>
          <a:solidFill>
            <a:srgbClr val="123044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179" y="4999740"/>
            <a:ext cx="406390" cy="4064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47764" y="5014972"/>
            <a:ext cx="251453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Sales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1447764" y="5392579"/>
            <a:ext cx="2743131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Outgoing stock workflow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343291" y="4771132"/>
            <a:ext cx="3505112" cy="1477268"/>
          </a:xfrm>
          <a:prstGeom prst="rect">
            <a:avLst/>
          </a:prstGeom>
          <a:solidFill>
            <a:srgbClr val="123044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1886" y="4999740"/>
            <a:ext cx="406390" cy="4064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81470" y="5014972"/>
            <a:ext cx="243833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Notifications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5181470" y="5392579"/>
            <a:ext cx="266693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Operational alerts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8000800" y="4771132"/>
            <a:ext cx="3581310" cy="1477268"/>
          </a:xfrm>
          <a:prstGeom prst="rect">
            <a:avLst/>
          </a:prstGeom>
          <a:solidFill>
            <a:srgbClr val="123044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394" y="4999740"/>
            <a:ext cx="406390" cy="4064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838979" y="5014972"/>
            <a:ext cx="251453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Analytics and reporting</a:t>
            </a:r>
            <a:endParaRPr lang="en-US" sz="1600" dirty="0"/>
          </a:p>
        </p:txBody>
      </p:sp>
      <p:sp>
        <p:nvSpPr>
          <p:cNvPr id="39" name="Text 28"/>
          <p:cNvSpPr/>
          <p:nvPr/>
        </p:nvSpPr>
        <p:spPr>
          <a:xfrm>
            <a:off x="8838979" y="5392579"/>
            <a:ext cx="2743131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Business activity review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INVENTORY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Batch-level tracking supports expiry-aware allocation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25896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Multiple batches per product preserve expiry context alongside stock availability.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037284"/>
            <a:ext cx="380990" cy="381000"/>
          </a:xfrm>
          <a:prstGeom prst="ellipse">
            <a:avLst/>
          </a:prstGeom>
          <a:noFill/>
          <a:ln w="12700">
            <a:solidFill>
              <a:srgbClr val="398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0284" y="3138884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8" dirty="0">
                <a:solidFill>
                  <a:srgbClr val="85CBB5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5" y="3499545"/>
            <a:ext cx="3352716" cy="19050"/>
          </a:xfrm>
          <a:prstGeom prst="rect">
            <a:avLst/>
          </a:prstGeom>
          <a:solidFill>
            <a:srgbClr val="0B2032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651019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Track each batch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090650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Keep product stock linked to its batch and expiry record.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19489" y="3037284"/>
            <a:ext cx="380990" cy="381000"/>
          </a:xfrm>
          <a:prstGeom prst="ellipse">
            <a:avLst/>
          </a:prstGeom>
          <a:noFill/>
          <a:ln w="12700">
            <a:solidFill>
              <a:srgbClr val="398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0189" y="3138884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8" dirty="0">
                <a:solidFill>
                  <a:srgbClr val="85CBB5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19489" y="3499545"/>
            <a:ext cx="3352716" cy="19050"/>
          </a:xfrm>
          <a:prstGeom prst="rect">
            <a:avLst/>
          </a:prstGeom>
          <a:solidFill>
            <a:srgbClr val="0B2032"/>
          </a:solidFill>
          <a:ln/>
        </p:spPr>
      </p:sp>
      <p:sp>
        <p:nvSpPr>
          <p:cNvPr id="13" name="Text 11"/>
          <p:cNvSpPr/>
          <p:nvPr/>
        </p:nvSpPr>
        <p:spPr>
          <a:xfrm>
            <a:off x="4419489" y="3651019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Identify expiry status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19489" y="4090650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Distinguish upcoming expiry and expired stock.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394" y="3037284"/>
            <a:ext cx="380990" cy="381000"/>
          </a:xfrm>
          <a:prstGeom prst="ellipse">
            <a:avLst/>
          </a:prstGeom>
          <a:noFill/>
          <a:ln w="12700">
            <a:solidFill>
              <a:srgbClr val="398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0094" y="3138884"/>
            <a:ext cx="88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8" dirty="0">
                <a:solidFill>
                  <a:srgbClr val="85CBB5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394" y="3499545"/>
            <a:ext cx="3352716" cy="19050"/>
          </a:xfrm>
          <a:prstGeom prst="rect">
            <a:avLst/>
          </a:prstGeom>
          <a:solidFill>
            <a:srgbClr val="0B203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394" y="3651019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Allocate with FEFO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394" y="4090650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Prioritize stock by first expiry, first out.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585" y="5496620"/>
            <a:ext cx="10972526" cy="751780"/>
          </a:xfrm>
          <a:prstGeom prst="rect">
            <a:avLst/>
          </a:prstGeom>
          <a:solidFill>
            <a:srgbClr val="12304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377" y="5727760"/>
            <a:ext cx="1066773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Low-stock alerts complement expiry tracking by highlighting replenishment needs.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85CBB5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TRANSACTION WORKFLOWS · INTENDED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0"/>
              </a:rPr>
              <a:t>Purchases add stock; sales allocate and deduct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923355"/>
            <a:ext cx="10972526" cy="1809750"/>
          </a:xfrm>
          <a:prstGeom prst="rect">
            <a:avLst/>
          </a:prstGeom>
          <a:solidFill>
            <a:srgbClr val="123044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467637"/>
            <a:ext cx="105153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85CBB5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Purchasing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179" y="2907268"/>
            <a:ext cx="1074393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Purchase Order → Supplier → Stock Received → Batch Created → Inventory Updated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5" y="4037905"/>
            <a:ext cx="10972526" cy="1809849"/>
          </a:xfrm>
          <a:prstGeom prst="rect">
            <a:avLst/>
          </a:prstGeom>
          <a:solidFill>
            <a:srgbClr val="123044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4582286"/>
            <a:ext cx="105153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85CBB5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Sales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179" y="5021917"/>
            <a:ext cx="1074393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E8F2F0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Product Selection → Cart → Checkout → FEFO Allocation → Stock Deduction → Receipt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585" y="603174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B5D0C9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Purchases create incoming stock records. Sales apply expiry-aware allocation before deducting stock.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580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Unbounded Light</vt:lpstr>
      <vt:lpstr>Ysabeau Office SemiBold</vt:lpstr>
      <vt:lpstr>Ysabeau Office</vt:lpstr>
      <vt:lpstr>Unbounded</vt:lpstr>
      <vt:lpstr>Arial</vt:lpstr>
      <vt:lpstr>Ysabeau Office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Vengala Rohith</cp:lastModifiedBy>
  <cp:revision>10</cp:revision>
  <dcterms:created xsi:type="dcterms:W3CDTF">2026-10-30T05:16:55Z</dcterms:created>
  <dcterms:modified xsi:type="dcterms:W3CDTF">2026-10-30T05:20:53Z</dcterms:modified>
</cp:coreProperties>
</file>